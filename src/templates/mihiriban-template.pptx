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711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006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nl-NL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876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488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956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264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612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375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063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036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29160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B1E954D-BE01-4DD8-AC80-4450F907E3E6}" type="datetimeFigureOut">
              <a:rPr lang="nl-NL" smtClean="0"/>
              <a:t>11-9-2026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C57C66-F258-46A2-A5D5-9FDDC232872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74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microsoft.com/office/2007/relationships/hdphoto" Target="../media/hdphoto2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2.wdp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2.wdp"/><Relationship Id="rId3" Type="http://schemas.openxmlformats.org/officeDocument/2006/relationships/image" Target="../media/image4.png"/><Relationship Id="rId4" Type="http://schemas.openxmlformats.org/officeDocument/2006/relationships/image" Target="../media/image7.jpeg"/><Relationship Id="rId5" Type="http://schemas.microsoft.com/office/2007/relationships/hdphoto" Target="../media/hdphoto1.wdp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3.wdp"/><Relationship Id="rId3" Type="http://schemas.openxmlformats.org/officeDocument/2006/relationships/image" Target="../media/image5.png"/><Relationship Id="rId4" Type="http://schemas.microsoft.com/office/2007/relationships/hdphoto" Target="../media/hdphoto2.wdp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3.wdp"/><Relationship Id="rId3" Type="http://schemas.openxmlformats.org/officeDocument/2006/relationships/image" Target="../media/image5.png"/><Relationship Id="rId4" Type="http://schemas.microsoft.com/office/2007/relationships/hdphoto" Target="../media/hdphoto2.wdp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3.wdp"/><Relationship Id="rId3" Type="http://schemas.openxmlformats.org/officeDocument/2006/relationships/image" Target="../media/image5.png"/><Relationship Id="rId4" Type="http://schemas.microsoft.com/office/2007/relationships/hdphoto" Target="../media/hdphoto2.wdp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3.wdp"/><Relationship Id="rId3" Type="http://schemas.openxmlformats.org/officeDocument/2006/relationships/image" Target="../media/image5.png"/><Relationship Id="rId4" Type="http://schemas.microsoft.com/office/2007/relationships/hdphoto" Target="../media/hdphoto2.wdp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hdphoto" Target="../media/hdphoto2.wdp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48FDEBDB-5859-4B9E-8810-2C5CFED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B37035-33A1-FFF6-D52B-FCD591644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942975"/>
            <a:ext cx="9966960" cy="3525056"/>
          </a:xfrm>
        </p:spPr>
        <p:txBody>
          <a:bodyPr anchor="b">
            <a:normAutofit/>
          </a:bodyPr>
          <a:lstStyle/>
          <a:p>
            <a:pPr algn="ctr"/>
            <a:r>
              <a:rPr lang="nl-NL" sz="3600">
                <a:solidFill>
                  <a:srgbClr val="FFFFFF"/>
                </a:solidFill>
              </a:rPr>
              <a:t>Maatschappijleer havo 4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CBB727E-9409-74AC-4677-EC995EFB7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649148"/>
            <a:ext cx="9948672" cy="1486158"/>
          </a:xfrm>
        </p:spPr>
        <p:txBody>
          <a:bodyPr>
            <a:normAutofit/>
          </a:bodyPr>
          <a:lstStyle/>
          <a:p>
            <a:pPr algn="ctr"/>
            <a:r>
              <a:rPr lang="nl-NL">
                <a:solidFill>
                  <a:srgbClr val="FFFFFF">
                    <a:alpha val="60000"/>
                  </a:srgbClr>
                </a:solidFill>
              </a:rPr>
              <a:t>Les 1 · Waarden, normen en belangen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D1A340-723B-4014-B5FE-204F06273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58589"/>
            <a:ext cx="9144000" cy="0"/>
          </a:xfrm>
          <a:prstGeom prst="line">
            <a:avLst/>
          </a:prstGeom>
          <a:ln w="2857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erschillende gekleurde vraagtekens">
            <a:extLst>
              <a:ext uri="{FF2B5EF4-FFF2-40B4-BE49-F238E27FC236}">
                <a16:creationId xmlns:a16="http://schemas.microsoft.com/office/drawing/2014/main" id="{455C4BA5-3B6D-DAB2-E307-DFD11AD185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2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388166-85AA-9E42-0EC6-779AA09E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>
            <a:normAutofit/>
          </a:bodyPr>
          <a:lstStyle/>
          <a:p>
            <a:pPr algn="r"/>
            <a:r>
              <a:rPr lang="nl-NL" dirty="0"/>
              <a:t>Introductie 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06A600-6037-8FC1-B180-26E3034E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4170410"/>
            <a:ext cx="4699221" cy="1767141"/>
          </a:xfrm>
        </p:spPr>
        <p:txBody>
          <a:bodyPr anchor="ctr">
            <a:normAutofit/>
          </a:bodyPr>
          <a:lstStyle/>
          <a:p>
            <a:r>
              <a:rPr lang="nl-NL" sz="1800"/>
              <a:t>Waarden, normen en belangen</a:t>
            </a:r>
          </a:p>
          <a:p>
            <a:pPr lvl="1"/>
            <a:r>
              <a:rPr lang="nl-NL" dirty="0"/>
              <a:t>Wat is het verschil tussen een waarde en een norm?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970214-6146-AF27-52FE-25110DD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nl-NL" dirty="0"/>
              <a:t>Leerdoelen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7DB9CC-D7C0-F956-581A-240FC93CF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nl-NL" dirty="0"/>
              <a:t>Je kunt het verschil tussen waarden, normen en belangen uitleggen en herkennen in een casus.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5" name="Picture 4" descr="Een groep van gele figuren en een rode figuur aan de andere zijde">
            <a:extLst>
              <a:ext uri="{FF2B5EF4-FFF2-40B4-BE49-F238E27FC236}">
                <a16:creationId xmlns:a16="http://schemas.microsoft.com/office/drawing/2014/main" id="{89F8C4F4-8BE7-0A4B-DB63-D6A1751172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3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D60390C-0E4C-4682-8246-AFA2E4985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BA87F4-FB8A-4D91-B3F3-DFA78E0CC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8A1571-BA38-DCDA-B8F1-0F5FCA56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480" y="4277802"/>
            <a:ext cx="6022449" cy="16224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6000">
                <a:blipFill dpi="0" rotWithShape="1">
                  <a:blip r:embed="rId6"/>
                  <a:srcRect/>
                  <a:tile tx="6350" ty="-127000" sx="65000" sy="64000" flip="none" algn="tl"/>
                </a:blipFill>
              </a:rPr>
              <a:t>Kernbegrippen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DA51C-C9AE-D22A-B243-86E2A6F3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4" y="4190337"/>
            <a:ext cx="3483865" cy="17099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/>
              <a:t>Waarde: basisprincipe dat mensen belangrijk vinden. Norm: concrete gedragsregel uit een waarde. Belang: persoonlijk of groepsvoordeel bij een keuze.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12A90F-45C2-4C9B-BAF6-9CE1F546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261E1DE-2B55-FAEB-B4A5-EADEEFB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nl-NL" sz="3000">
                <a:solidFill>
                  <a:srgbClr val="FFFFFF"/>
                </a:solidFill>
              </a:rPr>
              <a:t>Casus: coffeeshopbeleid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1E0F58-599B-5285-8B48-E2F37F581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nl-NL" dirty="0"/>
              <a:t>Een gemeente overweegt een coffeeshop te sluiten bij een school</a:t>
            </a:r>
          </a:p>
          <a:p>
            <a:r>
              <a:rPr lang="nl-NL" dirty="0"/>
              <a:t>Denk aan: veiligheid, vrijheid van ondernemen, gezondheid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Belangrijkste vraag:</a:t>
            </a:r>
          </a:p>
          <a:p>
            <a:r>
              <a:rPr lang="nl-NL" dirty="0"/>
              <a:t>Welke waarden, normen en belangen spelen hier een rol?</a:t>
            </a:r>
          </a:p>
          <a:p>
            <a:r>
              <a:rPr lang="nl-NL" dirty="0"/>
              <a:t>Welk belang zou volgens jou zwaarder moeten wegen?</a:t>
            </a:r>
          </a:p>
          <a:p>
            <a:endParaRPr lang="nl-N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173AFE1-A73A-BC00-6B0A-E6AD422F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nl-NL" sz="3000">
                <a:solidFill>
                  <a:srgbClr val="FFFFFF"/>
                </a:solidFill>
              </a:rPr>
              <a:t>Voorbeeld: vrijheid vs. veiligheid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F2F8A3-56E1-C53D-2C4E-4E9DF9983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dirty="0"/>
              <a:t>Een ondernemer wil zijn coffeeshop openhouden (vrijheid van ondernemen).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• Waarde: vrijheid</a:t>
            </a:r>
          </a:p>
          <a:p>
            <a:pPr marL="0" indent="0">
              <a:buNone/>
            </a:pPr>
            <a:r>
              <a:rPr lang="nl-NL" dirty="0"/>
              <a:t>• Norm: je mag een legale onderneming runnen</a:t>
            </a:r>
          </a:p>
          <a:p>
            <a:pPr marL="0" indent="0">
              <a:buNone/>
            </a:pPr>
            <a:r>
              <a:rPr lang="nl-NL" dirty="0"/>
              <a:t>• Belang: inkomen van de ondernemer</a:t>
            </a:r>
          </a:p>
          <a:p>
            <a:pPr marL="0" indent="0">
              <a:buNone/>
            </a:pPr>
            <a:r>
              <a:rPr lang="nl-NL" dirty="0"/>
              <a:t>• Botsing met: veiligheid van scholieren</a:t>
            </a:r>
          </a:p>
          <a:p>
            <a:pPr marL="0" indent="0">
              <a:buNone/>
            </a:pPr>
            <a:r>
              <a:rPr lang="nl-NL" dirty="0"/>
              <a:t>• Wie beslist: de gemeente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Conclusie: botsende belangen vragen om een afweging</a:t>
            </a:r>
          </a:p>
          <a:p>
            <a:pPr marL="0" indent="0">
              <a:buNone/>
            </a:pPr>
            <a:endParaRPr lang="nl-N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AE92897-9C92-AAEC-34B6-2D33FDF5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nl-NL" sz="3000">
                <a:solidFill>
                  <a:srgbClr val="FFFFFF"/>
                </a:solidFill>
              </a:rPr>
              <a:t>Opdracht in tweetallen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F984D20-010C-2758-FF60-60E1E763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dirty="0"/>
              <a:t>Kies een actueel maatschappelijk onderwerp uit het nieuws.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• Welke waarden spelen een rol?</a:t>
            </a:r>
          </a:p>
          <a:p>
            <a:pPr marL="0" indent="0">
              <a:buNone/>
            </a:pPr>
            <a:r>
              <a:rPr lang="nl-NL" dirty="0"/>
              <a:t>• Welke normen zijn hierbij van toepassing?</a:t>
            </a:r>
          </a:p>
          <a:p>
            <a:pPr marL="0" indent="0">
              <a:buNone/>
            </a:pPr>
            <a:r>
              <a:rPr lang="nl-NL" dirty="0"/>
              <a:t>• Welke belangen botsen er?</a:t>
            </a:r>
          </a:p>
          <a:p>
            <a:pPr marL="0" indent="0">
              <a:buNone/>
            </a:pPr>
            <a:r>
              <a:rPr lang="nl-NL" dirty="0"/>
              <a:t>• Wie heeft welk belang?</a:t>
            </a:r>
          </a:p>
          <a:p>
            <a:pPr marL="0" indent="0">
              <a:buNone/>
            </a:pPr>
            <a:r>
              <a:rPr lang="nl-NL" dirty="0"/>
              <a:t>• Wat zou jij zwaarder laten wegen en waarom?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Bereid een korte presentatie van 2 minuten voor</a:t>
            </a:r>
          </a:p>
          <a:p>
            <a:pPr marL="0" indent="0">
              <a:buNone/>
            </a:pPr>
            <a:endParaRPr lang="nl-N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81EDBD5-4BFC-1A64-4A7E-F8CFA42A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nl-NL" sz="3000">
                <a:solidFill>
                  <a:srgbClr val="FFFFFF"/>
                </a:solidFill>
              </a:rPr>
              <a:t>Bespreken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43F573D-C4BB-705F-A6B6-8A38744B5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dirty="0"/>
              <a:t>Elke groep presenteert kort (max. 2 min).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Let op:</a:t>
            </a:r>
          </a:p>
          <a:p>
            <a:pPr marL="0" indent="0">
              <a:buNone/>
            </a:pPr>
            <a:r>
              <a:rPr lang="nl-NL" dirty="0"/>
              <a:t>• Welke waarden werden genoemd?</a:t>
            </a:r>
          </a:p>
          <a:p>
            <a:pPr marL="0" indent="0">
              <a:buNone/>
            </a:pPr>
            <a:r>
              <a:rPr lang="nl-NL" dirty="0"/>
              <a:t>• Welke normen werden genoemd?</a:t>
            </a:r>
          </a:p>
          <a:p>
            <a:pPr marL="0" indent="0">
              <a:buNone/>
            </a:pPr>
            <a:r>
              <a:rPr lang="nl-NL" dirty="0"/>
              <a:t>• Welke belangen botsten er?</a:t>
            </a:r>
          </a:p>
          <a:p>
            <a:pPr marL="0" indent="0">
              <a:buNone/>
            </a:pPr>
            <a:r>
              <a:rPr lang="nl-NL" dirty="0"/>
              <a:t>• Was er een duidelijk overwicht van één belang?</a:t>
            </a:r>
          </a:p>
          <a:p>
            <a:pPr marL="0" indent="0">
              <a:buNone/>
            </a:pPr>
            <a:r>
              <a:rPr lang="nl-NL" dirty="0"/>
              <a:t>• Wat zou jij zelf beslissen en waarom?</a:t>
            </a:r>
          </a:p>
          <a:p>
            <a:pPr marL="0" indent="0">
              <a:buNone/>
            </a:pPr>
            <a:endParaRPr lang="nl-N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3C4C5769-E723-4A1E-B4F6-F6BB27AE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3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78380D-0E99-4278-9939-702074B8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C02D49-FC79-B65B-9CA1-4293DEAC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6"/>
            <a:ext cx="3682727" cy="5571067"/>
          </a:xfrm>
        </p:spPr>
        <p:txBody>
          <a:bodyPr>
            <a:normAutofit/>
          </a:bodyPr>
          <a:lstStyle/>
          <a:p>
            <a:pPr algn="r"/>
            <a:r>
              <a:rPr lang="nl-NL" sz="4800">
                <a:solidFill>
                  <a:srgbClr val="FFFFFF"/>
                </a:solidFill>
              </a:rPr>
              <a:t>Huiswerk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A92D53-A461-451B-87E6-8746F6FC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9F43EC-020D-5215-17B8-6D150D855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557" y="643465"/>
            <a:ext cx="6469168" cy="55862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dirty="0"/>
              <a:t>Zoek een nieuwsartikel (max. 1 week oud) over een maatschappelijk conflict.</a:t>
            </a:r>
          </a:p>
          <a:p>
            <a:pPr marL="0" indent="0">
              <a:buNone/>
            </a:pPr>
            <a:r>
              <a:rPr lang="nl-NL" dirty="0"/>
              <a:t>Beschrijf in max. 150 woorden welke waarden, normen en belangen een rol spelen.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Neem het artikel mee naar de volgende les.</a:t>
            </a:r>
          </a:p>
          <a:p>
            <a:pPr marL="0" indent="0">
              <a:buNone/>
            </a:pPr>
            <a:r>
              <a:rPr lang="nl-NL" dirty="0"/>
              <a:t/>
            </a:r>
          </a:p>
          <a:p>
            <a:pPr marL="0" indent="0">
              <a:buNone/>
            </a:pPr>
            <a:r>
              <a:rPr lang="nl-NL" dirty="0"/>
              <a:t/>
            </a:r>
          </a:p>
          <a:p>
            <a:pPr marL="0" indent="0">
              <a:buNone/>
            </a:pPr>
            <a:r>
              <a:rPr lang="nl-NL" dirty="0"/>
              <a:t/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03ABC2-0D2A-42E5-9778-D9E8DBB54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uttype">
  <a:themeElements>
    <a:clrScheme name="Hout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out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out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Houttype</Template>
  <TotalTime>17</TotalTime>
  <Words>372</Words>
  <Application>Microsoft Office PowerPoint</Application>
  <PresentationFormat>Breedbeeld</PresentationFormat>
  <Paragraphs>82</Paragraphs>
  <Slides>14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20" baseType="lpstr">
      <vt:lpstr>Calibri</vt:lpstr>
      <vt:lpstr>Rockwell</vt:lpstr>
      <vt:lpstr>Rockwell Condensed</vt:lpstr>
      <vt:lpstr>Rockwell Extra Bold</vt:lpstr>
      <vt:lpstr>Wingdings</vt:lpstr>
      <vt:lpstr>Houttype</vt:lpstr>
      <vt:lpstr>Maatschappijleer H4</vt:lpstr>
      <vt:lpstr>Programma</vt:lpstr>
      <vt:lpstr>Herhaling </vt:lpstr>
      <vt:lpstr>Leerdoelen </vt:lpstr>
      <vt:lpstr>Compromis </vt:lpstr>
      <vt:lpstr>Video</vt:lpstr>
      <vt:lpstr>Is het een compromis?</vt:lpstr>
      <vt:lpstr>Opdracht: compromis</vt:lpstr>
      <vt:lpstr>Leerling A: muziek</vt:lpstr>
      <vt:lpstr>Leerling b: sfeer</vt:lpstr>
      <vt:lpstr>Jullie uitdaging</vt:lpstr>
      <vt:lpstr>Maak jullie compromis</vt:lpstr>
      <vt:lpstr>Leg jullie compromis uit</vt:lpstr>
      <vt:lpstr>Bedenk samen een eigen conflict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Mihriban Burgaz</dc:creator>
  <cp:lastModifiedBy>Mihriban Burgaz</cp:lastModifiedBy>
  <cp:revision>1</cp:revision>
  <dcterms:created xsi:type="dcterms:W3CDTF">2026-09-11T05:30:24Z</dcterms:created>
  <dcterms:modified xsi:type="dcterms:W3CDTF">2026-09-11T05:48:13Z</dcterms:modified>
</cp:coreProperties>
</file>